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257" r:id="rId4"/>
    <p:sldId id="268" r:id="rId5"/>
    <p:sldId id="258" r:id="rId6"/>
    <p:sldId id="260" r:id="rId7"/>
    <p:sldId id="261" r:id="rId8"/>
    <p:sldId id="264" r:id="rId9"/>
    <p:sldId id="259" r:id="rId10"/>
    <p:sldId id="263" r:id="rId11"/>
    <p:sldId id="267" r:id="rId12"/>
    <p:sldId id="269" r:id="rId1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23232"/>
    <a:srgbClr val="70AD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2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25346A-B080-07B6-D15B-45FE402A93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084E2A6-857A-3A7C-EAD1-6A63E50CBC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73D87B7-2872-B5D2-9A97-FDEDE32DB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BE6B0BC-EC6E-1A4C-88AB-4E07A6424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A18BD89-7871-7614-A282-436E862880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988490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DFBF5F-BAF1-4AF4-BFB5-FACAFFAD9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1403B71-BA7A-230E-4162-5129427FB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AA1115D-5C4D-2B4A-4F7E-B00CADE060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8FE3344-B1AD-6AE6-4273-921F0C66E8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EDB1DCE-F6F4-4D77-ABDD-297C3655F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08888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7F7248-9797-39E0-12A7-7DCB99ECDC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A2ED577-658A-5F24-8E68-BEC1128B7E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E3585F-D889-C33D-E2C7-C2DFC7A19A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8FF7ABD-0FCE-CB54-E618-90053CB98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D805F1A-9114-62D8-8A34-7FA8693AE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303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DF1516A-3353-ADD5-1A81-00C38FE5DB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1AF9E88-2645-FBFC-AD6E-E463B20F8D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1C2036-E998-1F12-5C29-732EC7EC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A2C610E-244C-6437-BF69-CA51DD405E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40A6694-2CF3-17A5-A22C-E8E29F2121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8C042C9-EF2C-7017-F109-3DEAB7A8D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431013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35B6EA-877C-0166-CA72-8A40AD833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CDAC7A0-D89A-46EA-36CC-29025E577E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51AD587-CA55-60E9-D9B7-098F523334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EB1681F-B397-81D8-E827-149B4B53AC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08249F19-E9B8-7F51-2F78-082E69E6C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98C00D4-D940-1E37-B759-005FFF0437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1C4C5AAC-F5E7-028F-A011-84A2D9DA6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8B975887-674C-4895-0F71-6E96A6F2A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05056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02A249-E0B5-502E-2487-436B38D61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D0B499E-8F6A-C9FC-75B3-1CC8B128F5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B360850-BA80-50FC-F71B-B5BDD4F10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BE71B28D-E57D-2603-6893-F897202850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8854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F1D8E451-C905-300A-C065-721ED6537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1A75128-4679-4D66-3B86-D81033E57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C952EDF-1240-E80D-08F3-E5891FDEC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97823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17C290-E815-B5BF-9396-56C539C3FA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F75F0D3-9F54-80D3-1D82-D575F0E3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69946E6-69E1-3332-CF3A-4818CC72F0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791F070-AF1C-496B-567A-8C25301293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30C3ED4-DC34-9971-EFBE-A70161407A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7A61863-7575-B7BD-03C6-8AED8FDCB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258182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AC59D49-AD32-819B-8502-40196F5D89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3A19A588-6877-D13D-A922-E486DD1E1F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B684452-0914-3F68-A29D-30676B0610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3E6CE9C-92DA-DFB5-87D8-153111263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F36CDEF-D9A9-843E-F40A-A5EF6113DE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162EADB3-63C9-4B1B-4314-1A7638351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15487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0405B4A-CFFF-5FB5-591C-D726DDCE5B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6730759-727D-FF87-BD64-979618C566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D131612-64D2-291E-5906-2005E83B13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AE3F244-2F2A-C023-DE73-65C14108C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0D5BE5B-F677-7C48-55FE-9DF21607EB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30504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A19AE42-66D4-2214-DC64-FCE73E4B4D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D47585C2-3D7A-D537-F383-236A9BD242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043BC3-C339-8327-B042-6146D8D666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F74CDB0-F37A-647A-ED87-7205A3CF3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B851C96-3E8F-7509-75D7-2F450238C5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1217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032BE26-3E9E-9DD1-A6B6-F3B73B387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B799A922-E8FC-62DC-5F3D-C090E9355E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FE59A8F-0C99-F3B0-4E7B-0B412F811F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8E33A3-810A-4370-AAF9-4A5FE31719F1}" type="datetimeFigureOut">
              <a:rPr lang="ru-RU" smtClean="0"/>
              <a:t>23.05.2025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8413877-A16A-637C-603A-BCACD14536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9916BCE-3A6D-6CDA-031A-201E5C04A3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CEA5F9-AEFF-4973-8C01-B6D49B7B7F9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78755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2.wdp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A52937E3-38BD-CB87-823D-1926370449B9}"/>
              </a:ext>
            </a:extLst>
          </p:cNvPr>
          <p:cNvSpPr/>
          <p:nvPr/>
        </p:nvSpPr>
        <p:spPr>
          <a:xfrm>
            <a:off x="743848" y="525094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Проект SmartStock: Автоматизация управления складом</a:t>
            </a:r>
            <a:endParaRPr lang="en-US" sz="4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846085D3-36AD-CC53-A281-06B3E90C26D5}"/>
              </a:ext>
            </a:extLst>
          </p:cNvPr>
          <p:cNvSpPr/>
          <p:nvPr/>
        </p:nvSpPr>
        <p:spPr>
          <a:xfrm>
            <a:off x="637650" y="2992704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2000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SmartStock — система для автоматизации складских процессов малого и среднего бизнеса.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7D0305A4-57B9-1ACF-3901-E05110EECA13}"/>
              </a:ext>
            </a:extLst>
          </p:cNvPr>
          <p:cNvSpPr/>
          <p:nvPr/>
        </p:nvSpPr>
        <p:spPr>
          <a:xfrm>
            <a:off x="380945" y="4742617"/>
            <a:ext cx="362903" cy="362903"/>
          </a:xfrm>
          <a:prstGeom prst="roundRect">
            <a:avLst>
              <a:gd name="adj" fmla="val 25194296"/>
            </a:avLst>
          </a:prstGeom>
          <a:noFill/>
          <a:ln w="7620">
            <a:solidFill>
              <a:srgbClr val="FFFFFF"/>
            </a:solidFill>
            <a:prstDash val="solid"/>
          </a:ln>
        </p:spPr>
      </p:sp>
      <p:pic>
        <p:nvPicPr>
          <p:cNvPr id="7" name="Image 1" descr="preencoded.png">
            <a:extLst>
              <a:ext uri="{FF2B5EF4-FFF2-40B4-BE49-F238E27FC236}">
                <a16:creationId xmlns:a16="http://schemas.microsoft.com/office/drawing/2014/main" id="{1A54F76F-5ABC-5216-7FF0-868F11E6E0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87" y="4378047"/>
            <a:ext cx="347663" cy="347663"/>
          </a:xfrm>
          <a:prstGeom prst="rect">
            <a:avLst/>
          </a:prstGeom>
        </p:spPr>
      </p:pic>
      <p:sp>
        <p:nvSpPr>
          <p:cNvPr id="8" name="Text 3">
            <a:extLst>
              <a:ext uri="{FF2B5EF4-FFF2-40B4-BE49-F238E27FC236}">
                <a16:creationId xmlns:a16="http://schemas.microsoft.com/office/drawing/2014/main" id="{7B9079A2-C7BE-25D5-1E3E-4A1C628A8360}"/>
              </a:ext>
            </a:extLst>
          </p:cNvPr>
          <p:cNvSpPr/>
          <p:nvPr/>
        </p:nvSpPr>
        <p:spPr>
          <a:xfrm>
            <a:off x="857195" y="4725710"/>
            <a:ext cx="3023711" cy="3968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2200" dirty="0"/>
          </a:p>
        </p:txBody>
      </p:sp>
      <p:pic>
        <p:nvPicPr>
          <p:cNvPr id="9" name="Image 0" descr="preencoded.png">
            <a:extLst>
              <a:ext uri="{FF2B5EF4-FFF2-40B4-BE49-F238E27FC236}">
                <a16:creationId xmlns:a16="http://schemas.microsoft.com/office/drawing/2014/main" id="{0DBDC6AA-2121-DBE7-F9D5-2D13826B9C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8605" y="0"/>
            <a:ext cx="4813395" cy="687627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7803D9-E9F4-A83D-00B9-C226637F4938}"/>
              </a:ext>
            </a:extLst>
          </p:cNvPr>
          <p:cNvSpPr txBox="1"/>
          <p:nvPr/>
        </p:nvSpPr>
        <p:spPr>
          <a:xfrm>
            <a:off x="953662" y="4273710"/>
            <a:ext cx="508272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Команда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/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Орехова Е.М.</a:t>
            </a:r>
            <a:r>
              <a:rPr lang="en-US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ctr"/>
            <a:r>
              <a:rPr lang="ru-RU" sz="2000" b="0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Потягин</a:t>
            </a:r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К.В.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pPr algn="ctr"/>
            <a:r>
              <a:rPr lang="ru-RU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Давыдов Д.Н</a:t>
            </a:r>
            <a:r>
              <a:rPr lang="en-US" sz="2000" b="0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b="0" i="0" dirty="0"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Большакова В.Е</a:t>
            </a:r>
            <a:r>
              <a:rPr 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; </a:t>
            </a:r>
          </a:p>
          <a:p>
            <a:pPr algn="ctr"/>
            <a:r>
              <a:rPr lang="ru-RU" sz="2000" dirty="0" err="1">
                <a:latin typeface="Arial" panose="020B0604020202020204" pitchFamily="34" charset="0"/>
                <a:cs typeface="Arial" panose="020B0604020202020204" pitchFamily="34" charset="0"/>
              </a:rPr>
              <a:t>Кунц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Е.А.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Гущина А.Р.</a:t>
            </a:r>
          </a:p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Калмыкова А.</a:t>
            </a:r>
          </a:p>
        </p:txBody>
      </p:sp>
    </p:spTree>
    <p:extLst>
      <p:ext uri="{BB962C8B-B14F-4D97-AF65-F5344CB8AC3E}">
        <p14:creationId xmlns:p14="http://schemas.microsoft.com/office/powerpoint/2010/main" val="21531906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Стрелка: пятиугольник 4">
            <a:extLst>
              <a:ext uri="{FF2B5EF4-FFF2-40B4-BE49-F238E27FC236}">
                <a16:creationId xmlns:a16="http://schemas.microsoft.com/office/drawing/2014/main" id="{55C9F8A2-D002-4E68-BAFF-AE83CB045DA7}"/>
              </a:ext>
            </a:extLst>
          </p:cNvPr>
          <p:cNvSpPr/>
          <p:nvPr/>
        </p:nvSpPr>
        <p:spPr>
          <a:xfrm>
            <a:off x="267853" y="2123568"/>
            <a:ext cx="2289775" cy="1305432"/>
          </a:xfrm>
          <a:prstGeom prst="homePlate">
            <a:avLst/>
          </a:prstGeom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Image 0" descr="preencoded.png">
            <a:extLst>
              <a:ext uri="{FF2B5EF4-FFF2-40B4-BE49-F238E27FC236}">
                <a16:creationId xmlns:a16="http://schemas.microsoft.com/office/drawing/2014/main" id="{5399A380-E095-49F6-8FAE-8DE142054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03"/>
            <a:ext cx="12191999" cy="1941353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8A3B20D-AA6F-4A1F-82A5-E69FC9E0EB43}"/>
              </a:ext>
            </a:extLst>
          </p:cNvPr>
          <p:cNvSpPr txBox="1"/>
          <p:nvPr/>
        </p:nvSpPr>
        <p:spPr>
          <a:xfrm>
            <a:off x="-185573" y="2123568"/>
            <a:ext cx="2743200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 fontAlgn="ctr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Орехова Е.М. </a:t>
            </a:r>
          </a:p>
          <a:p>
            <a:pPr algn="ctr" rtl="0" fontAlgn="ctr"/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Создание и</a:t>
            </a:r>
          </a:p>
          <a:p>
            <a:pPr algn="ctr" rtl="0" fontAlgn="ctr"/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продвижение </a:t>
            </a:r>
          </a:p>
          <a:p>
            <a:pPr algn="ctr" rtl="0" fontAlgn="ctr"/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цифрового </a:t>
            </a:r>
          </a:p>
          <a:p>
            <a:pPr algn="ctr" rtl="0" fontAlgn="ctr"/>
            <a:r>
              <a:rPr lang="ru-RU" sz="1600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контента</a:t>
            </a:r>
          </a:p>
          <a:p>
            <a:b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Стрелка: пятиугольник 6">
            <a:extLst>
              <a:ext uri="{FF2B5EF4-FFF2-40B4-BE49-F238E27FC236}">
                <a16:creationId xmlns:a16="http://schemas.microsoft.com/office/drawing/2014/main" id="{74CC5955-D7EE-4AA3-8434-DBEC02E32847}"/>
              </a:ext>
            </a:extLst>
          </p:cNvPr>
          <p:cNvSpPr/>
          <p:nvPr/>
        </p:nvSpPr>
        <p:spPr>
          <a:xfrm>
            <a:off x="267853" y="5348010"/>
            <a:ext cx="2267828" cy="1263535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Стрелка: пятиугольник 7">
            <a:extLst>
              <a:ext uri="{FF2B5EF4-FFF2-40B4-BE49-F238E27FC236}">
                <a16:creationId xmlns:a16="http://schemas.microsoft.com/office/drawing/2014/main" id="{89118217-8EAC-4FE2-8497-CF5812E3EA21}"/>
              </a:ext>
            </a:extLst>
          </p:cNvPr>
          <p:cNvSpPr/>
          <p:nvPr/>
        </p:nvSpPr>
        <p:spPr>
          <a:xfrm>
            <a:off x="245905" y="3972725"/>
            <a:ext cx="2267829" cy="976906"/>
          </a:xfrm>
          <a:prstGeom prst="homePlate">
            <a:avLst/>
          </a:prstGeom>
          <a:solidFill>
            <a:srgbClr val="7030A0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трелка: пятиугольник 8">
            <a:extLst>
              <a:ext uri="{FF2B5EF4-FFF2-40B4-BE49-F238E27FC236}">
                <a16:creationId xmlns:a16="http://schemas.microsoft.com/office/drawing/2014/main" id="{ACEDE982-A77F-47D7-830C-16CB552FE24A}"/>
              </a:ext>
            </a:extLst>
          </p:cNvPr>
          <p:cNvSpPr/>
          <p:nvPr/>
        </p:nvSpPr>
        <p:spPr>
          <a:xfrm rot="10800000">
            <a:off x="9085228" y="3972725"/>
            <a:ext cx="2289777" cy="886076"/>
          </a:xfrm>
          <a:prstGeom prst="homePlate">
            <a:avLst/>
          </a:prstGeom>
          <a:solidFill>
            <a:srgbClr val="FFFF00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10" name="Стрелка: пятиугольник 9">
            <a:extLst>
              <a:ext uri="{FF2B5EF4-FFF2-40B4-BE49-F238E27FC236}">
                <a16:creationId xmlns:a16="http://schemas.microsoft.com/office/drawing/2014/main" id="{54EAF967-3989-46E1-8336-FEDA534E7512}"/>
              </a:ext>
            </a:extLst>
          </p:cNvPr>
          <p:cNvSpPr/>
          <p:nvPr/>
        </p:nvSpPr>
        <p:spPr>
          <a:xfrm rot="10800000">
            <a:off x="9096322" y="2144517"/>
            <a:ext cx="2289775" cy="1263534"/>
          </a:xfrm>
          <a:prstGeom prst="homePlate">
            <a:avLst/>
          </a:prstGeom>
          <a:solidFill>
            <a:srgbClr val="C23232"/>
          </a:solidFill>
          <a:effectLst>
            <a:outerShdw blurRad="76200" dir="18900000" sy="23000" kx="-1200000" algn="bl" rotWithShape="0">
              <a:prstClr val="black">
                <a:alpha val="20000"/>
              </a:prstClr>
            </a:outerShdw>
          </a:effectLst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Стрелка: пятиугольник 10">
            <a:extLst>
              <a:ext uri="{FF2B5EF4-FFF2-40B4-BE49-F238E27FC236}">
                <a16:creationId xmlns:a16="http://schemas.microsoft.com/office/drawing/2014/main" id="{553CFD21-B327-4647-AFC9-FD341C4D1E91}"/>
              </a:ext>
            </a:extLst>
          </p:cNvPr>
          <p:cNvSpPr/>
          <p:nvPr/>
        </p:nvSpPr>
        <p:spPr>
          <a:xfrm rot="10800000">
            <a:off x="9244350" y="5241023"/>
            <a:ext cx="2289775" cy="1263534"/>
          </a:xfrm>
          <a:prstGeom prst="homePlat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D5D116-3B4F-4391-AAF0-7C05A37E454C}"/>
              </a:ext>
            </a:extLst>
          </p:cNvPr>
          <p:cNvSpPr txBox="1"/>
          <p:nvPr/>
        </p:nvSpPr>
        <p:spPr>
          <a:xfrm>
            <a:off x="9373576" y="3955319"/>
            <a:ext cx="200143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Большакова В.Е. </a:t>
            </a:r>
          </a:p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Аналитика</a:t>
            </a:r>
          </a:p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данных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00A6B779-AD14-479C-8101-778AAFB9A9B1}"/>
              </a:ext>
            </a:extLst>
          </p:cNvPr>
          <p:cNvSpPr/>
          <p:nvPr/>
        </p:nvSpPr>
        <p:spPr>
          <a:xfrm>
            <a:off x="3453063" y="361884"/>
            <a:ext cx="445160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1" spc="50" dirty="0">
                <a:ln w="9525" cmpd="sng">
                  <a:solidFill>
                    <a:schemeClr val="tx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Роли каждого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198B369D-3218-4C0B-A0C5-C2475BFEFF1D}"/>
              </a:ext>
            </a:extLst>
          </p:cNvPr>
          <p:cNvSpPr/>
          <p:nvPr/>
        </p:nvSpPr>
        <p:spPr>
          <a:xfrm>
            <a:off x="4431915" y="3061141"/>
            <a:ext cx="2458545" cy="14872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7B222AD-E168-4071-90AF-9B230CB9F363}"/>
              </a:ext>
            </a:extLst>
          </p:cNvPr>
          <p:cNvSpPr txBox="1"/>
          <p:nvPr/>
        </p:nvSpPr>
        <p:spPr>
          <a:xfrm>
            <a:off x="9409516" y="2237674"/>
            <a:ext cx="199296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600" b="0" i="0" dirty="0" err="1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Потягин</a:t>
            </a:r>
            <a:r>
              <a:rPr lang="ru-RU" sz="16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К.В. Разработчик мобильных и веб-приложений</a:t>
            </a:r>
            <a:endParaRPr lang="ru-RU" sz="1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C64C9A9B-42AE-42D1-8353-2044DEF0F7AF}"/>
              </a:ext>
            </a:extLst>
          </p:cNvPr>
          <p:cNvSpPr txBox="1"/>
          <p:nvPr/>
        </p:nvSpPr>
        <p:spPr>
          <a:xfrm>
            <a:off x="9805194" y="5260870"/>
            <a:ext cx="172893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Кунц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Е.А. </a:t>
            </a: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ИИ и машинное обучение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5AE781D-58EA-4E67-BC8C-CDF820951EAF}"/>
              </a:ext>
            </a:extLst>
          </p:cNvPr>
          <p:cNvSpPr txBox="1"/>
          <p:nvPr/>
        </p:nvSpPr>
        <p:spPr>
          <a:xfrm>
            <a:off x="4525684" y="3269279"/>
            <a:ext cx="2244722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Гущина А.Р.</a:t>
            </a:r>
          </a:p>
          <a:p>
            <a:pPr algn="ctr"/>
            <a:r>
              <a:rPr lang="ru-RU" sz="2000" dirty="0">
                <a:latin typeface="Arial" panose="020B0604020202020204" pitchFamily="34" charset="0"/>
                <a:cs typeface="Arial" panose="020B0604020202020204" pitchFamily="34" charset="0"/>
              </a:rPr>
              <a:t> ИИ и машинное обучение</a:t>
            </a:r>
          </a:p>
          <a:p>
            <a:endParaRPr lang="ru-RU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FE5A991-2C33-438B-AE5F-4519EACEB806}"/>
              </a:ext>
            </a:extLst>
          </p:cNvPr>
          <p:cNvSpPr txBox="1"/>
          <p:nvPr/>
        </p:nvSpPr>
        <p:spPr>
          <a:xfrm>
            <a:off x="267852" y="5370708"/>
            <a:ext cx="203200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Давыдов Д.Н</a:t>
            </a:r>
          </a:p>
          <a:p>
            <a: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специалист по веб-разработке и дизайну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8C2D21E-CBDB-479D-8C26-9393E959CAAC}"/>
              </a:ext>
            </a:extLst>
          </p:cNvPr>
          <p:cNvSpPr txBox="1"/>
          <p:nvPr/>
        </p:nvSpPr>
        <p:spPr>
          <a:xfrm>
            <a:off x="331697" y="4028929"/>
            <a:ext cx="1663357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Калмыкова А.</a:t>
            </a:r>
          </a:p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Аналитика</a:t>
            </a:r>
          </a:p>
          <a:p>
            <a:pPr algn="ctr"/>
            <a:r>
              <a:rPr lang="ru-RU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данных</a:t>
            </a:r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ru-RU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Прямоугольник 26">
            <a:extLst>
              <a:ext uri="{FF2B5EF4-FFF2-40B4-BE49-F238E27FC236}">
                <a16:creationId xmlns:a16="http://schemas.microsoft.com/office/drawing/2014/main" id="{57D499D4-F1EC-406A-80C7-EC429295E1C2}"/>
              </a:ext>
            </a:extLst>
          </p:cNvPr>
          <p:cNvSpPr/>
          <p:nvPr/>
        </p:nvSpPr>
        <p:spPr>
          <a:xfrm>
            <a:off x="2587492" y="2165465"/>
            <a:ext cx="1754233" cy="1263535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/>
              <a:t>Медиа-продвижение и оформление презентации</a:t>
            </a:r>
            <a:endParaRPr lang="ru-RU" dirty="0"/>
          </a:p>
        </p:txBody>
      </p:sp>
      <p:sp>
        <p:nvSpPr>
          <p:cNvPr id="28" name="Прямоугольник 27">
            <a:extLst>
              <a:ext uri="{FF2B5EF4-FFF2-40B4-BE49-F238E27FC236}">
                <a16:creationId xmlns:a16="http://schemas.microsoft.com/office/drawing/2014/main" id="{F9E70BA1-FCFE-4C52-882E-7EBABCD40936}"/>
              </a:ext>
            </a:extLst>
          </p:cNvPr>
          <p:cNvSpPr/>
          <p:nvPr/>
        </p:nvSpPr>
        <p:spPr>
          <a:xfrm>
            <a:off x="7178808" y="3783995"/>
            <a:ext cx="1786366" cy="1263536"/>
          </a:xfrm>
          <a:prstGeom prst="rect">
            <a:avLst/>
          </a:prstGeom>
          <a:ln>
            <a:solidFill>
              <a:srgbClr val="FFFF00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solidFill>
                  <a:srgbClr val="000000"/>
                </a:solidFill>
                <a:latin typeface="Roboto" panose="02000000000000000000" pitchFamily="2" charset="0"/>
              </a:rPr>
              <a:t>А</a:t>
            </a:r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нализ складских мощностей для хранения товаров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Прямоугольник 28">
            <a:extLst>
              <a:ext uri="{FF2B5EF4-FFF2-40B4-BE49-F238E27FC236}">
                <a16:creationId xmlns:a16="http://schemas.microsoft.com/office/drawing/2014/main" id="{1165634A-3AE8-4A45-8B41-F0A2AEC15A68}"/>
              </a:ext>
            </a:extLst>
          </p:cNvPr>
          <p:cNvSpPr/>
          <p:nvPr/>
        </p:nvSpPr>
        <p:spPr>
          <a:xfrm>
            <a:off x="2587492" y="5416071"/>
            <a:ext cx="1583394" cy="1263534"/>
          </a:xfrm>
          <a:prstGeom prst="rect">
            <a:avLst/>
          </a:prstGeom>
          <a:ln>
            <a:solidFill>
              <a:srgbClr val="0070C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Разработка дизайн-макета приложения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0" name="Прямоугольник 29">
            <a:extLst>
              <a:ext uri="{FF2B5EF4-FFF2-40B4-BE49-F238E27FC236}">
                <a16:creationId xmlns:a16="http://schemas.microsoft.com/office/drawing/2014/main" id="{E4DD8C52-89B9-45CF-8927-7CC7DB1E4BA7}"/>
              </a:ext>
            </a:extLst>
          </p:cNvPr>
          <p:cNvSpPr/>
          <p:nvPr/>
        </p:nvSpPr>
        <p:spPr>
          <a:xfrm>
            <a:off x="2765661" y="3915610"/>
            <a:ext cx="1377906" cy="913438"/>
          </a:xfrm>
          <a:prstGeom prst="rect">
            <a:avLst/>
          </a:prstGeom>
          <a:ln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Создание 3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модели склада</a:t>
            </a:r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8A320088-2AF3-494B-A7CC-9AFAB2894BB5}"/>
              </a:ext>
            </a:extLst>
          </p:cNvPr>
          <p:cNvSpPr/>
          <p:nvPr/>
        </p:nvSpPr>
        <p:spPr>
          <a:xfrm>
            <a:off x="7258377" y="2369735"/>
            <a:ext cx="1557080" cy="1038316"/>
          </a:xfrm>
          <a:prstGeom prst="rect">
            <a:avLst/>
          </a:prstGeom>
          <a:ln>
            <a:solidFill>
              <a:srgbClr val="C23232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Разработка веб-приложения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Прямоугольник 31">
            <a:extLst>
              <a:ext uri="{FF2B5EF4-FFF2-40B4-BE49-F238E27FC236}">
                <a16:creationId xmlns:a16="http://schemas.microsoft.com/office/drawing/2014/main" id="{E25A89F8-15D3-4EE5-B65C-3D7092DD500C}"/>
              </a:ext>
            </a:extLst>
          </p:cNvPr>
          <p:cNvSpPr/>
          <p:nvPr/>
        </p:nvSpPr>
        <p:spPr>
          <a:xfrm>
            <a:off x="7277802" y="5416071"/>
            <a:ext cx="1583394" cy="913438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Внедрила компьютерное зрение </a:t>
            </a:r>
          </a:p>
        </p:txBody>
      </p:sp>
      <p:sp>
        <p:nvSpPr>
          <p:cNvPr id="33" name="Прямоугольник 32">
            <a:extLst>
              <a:ext uri="{FF2B5EF4-FFF2-40B4-BE49-F238E27FC236}">
                <a16:creationId xmlns:a16="http://schemas.microsoft.com/office/drawing/2014/main" id="{8CEF57D1-9141-4531-8884-8BE8C67F4E00}"/>
              </a:ext>
            </a:extLst>
          </p:cNvPr>
          <p:cNvSpPr/>
          <p:nvPr/>
        </p:nvSpPr>
        <p:spPr>
          <a:xfrm>
            <a:off x="4524175" y="4797220"/>
            <a:ext cx="2366285" cy="110158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Руководитель. Внедрила прогнозирование и поиск продукции ИИ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D31B98AB-24F0-454F-91BD-F8E25498D15A}"/>
              </a:ext>
            </a:extLst>
          </p:cNvPr>
          <p:cNvSpPr txBox="1"/>
          <p:nvPr/>
        </p:nvSpPr>
        <p:spPr>
          <a:xfrm>
            <a:off x="-185573" y="246455"/>
            <a:ext cx="159984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193805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72C52B13-8C49-9F20-1E0D-2F5294A2F510}"/>
              </a:ext>
            </a:extLst>
          </p:cNvPr>
          <p:cNvSpPr/>
          <p:nvPr/>
        </p:nvSpPr>
        <p:spPr>
          <a:xfrm>
            <a:off x="4635460" y="353522"/>
            <a:ext cx="6130945" cy="150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en-US" sz="54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Идея и </a:t>
            </a:r>
            <a:r>
              <a:rPr lang="ru-RU" sz="54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предметная</a:t>
            </a:r>
            <a:br>
              <a:rPr lang="ru-RU" sz="54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</a:br>
            <a:r>
              <a:rPr lang="ru-RU" sz="54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область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age 0" descr="preencoded.png">
            <a:extLst>
              <a:ext uri="{FF2B5EF4-FFF2-40B4-BE49-F238E27FC236}">
                <a16:creationId xmlns:a16="http://schemas.microsoft.com/office/drawing/2014/main" id="{9375DD39-AA89-18BD-B0E9-196A65C866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-2" y="1"/>
            <a:ext cx="4450081" cy="6858000"/>
          </a:xfrm>
          <a:prstGeom prst="rect">
            <a:avLst/>
          </a:prstGeom>
        </p:spPr>
      </p:pic>
      <p:sp>
        <p:nvSpPr>
          <p:cNvPr id="7" name="Text 2">
            <a:extLst>
              <a:ext uri="{FF2B5EF4-FFF2-40B4-BE49-F238E27FC236}">
                <a16:creationId xmlns:a16="http://schemas.microsoft.com/office/drawing/2014/main" id="{E7E90474-CE78-0EF0-F118-09397C2736FF}"/>
              </a:ext>
            </a:extLst>
          </p:cNvPr>
          <p:cNvSpPr/>
          <p:nvPr/>
        </p:nvSpPr>
        <p:spPr>
          <a:xfrm>
            <a:off x="7225077" y="2313516"/>
            <a:ext cx="2681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35D0525-B368-3ECC-0356-68D42E646D62}"/>
              </a:ext>
            </a:extLst>
          </p:cNvPr>
          <p:cNvSpPr/>
          <p:nvPr/>
        </p:nvSpPr>
        <p:spPr>
          <a:xfrm>
            <a:off x="7876877" y="1996883"/>
            <a:ext cx="3914713" cy="2019809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EA95839-9DC8-5F6A-F0A1-042D4B0FFB57}"/>
              </a:ext>
            </a:extLst>
          </p:cNvPr>
          <p:cNvSpPr/>
          <p:nvPr/>
        </p:nvSpPr>
        <p:spPr>
          <a:xfrm>
            <a:off x="9388496" y="2141263"/>
            <a:ext cx="2681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Цель</a:t>
            </a:r>
            <a:endParaRPr lang="en-US" sz="2200" dirty="0"/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183A36F9-486A-4EAD-07D4-9983329A11C5}"/>
              </a:ext>
            </a:extLst>
          </p:cNvPr>
          <p:cNvSpPr/>
          <p:nvPr/>
        </p:nvSpPr>
        <p:spPr>
          <a:xfrm>
            <a:off x="8753952" y="2977396"/>
            <a:ext cx="303763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8FC83891-ED8B-A5FC-C0EE-9360A68923F6}"/>
              </a:ext>
            </a:extLst>
          </p:cNvPr>
          <p:cNvSpPr/>
          <p:nvPr/>
        </p:nvSpPr>
        <p:spPr>
          <a:xfrm>
            <a:off x="4635460" y="4383643"/>
            <a:ext cx="7358419" cy="1967746"/>
          </a:xfrm>
          <a:prstGeom prst="roundRect">
            <a:avLst>
              <a:gd name="adj" fmla="val 15620"/>
            </a:avLst>
          </a:prstGeom>
          <a:solidFill>
            <a:srgbClr val="CEE6FD"/>
          </a:solidFill>
          <a:ln/>
        </p:spPr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C800D58A-7AE4-E471-3CCC-8D544EC3B469}"/>
              </a:ext>
            </a:extLst>
          </p:cNvPr>
          <p:cNvSpPr/>
          <p:nvPr/>
        </p:nvSpPr>
        <p:spPr>
          <a:xfrm>
            <a:off x="7590807" y="4498495"/>
            <a:ext cx="268196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ru-RU" sz="2200" dirty="0">
                <a:solidFill>
                  <a:srgbClr val="1E3063"/>
                </a:solidFill>
                <a:ea typeface="Instrument Sans Semi Bold" pitchFamily="34" charset="-122"/>
              </a:rPr>
              <a:t>Новизна</a:t>
            </a:r>
            <a:endParaRPr lang="en-US" sz="22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068531E-E246-436F-828B-7F026E2A74C7}"/>
              </a:ext>
            </a:extLst>
          </p:cNvPr>
          <p:cNvSpPr txBox="1"/>
          <p:nvPr/>
        </p:nvSpPr>
        <p:spPr>
          <a:xfrm>
            <a:off x="-541678" y="0"/>
            <a:ext cx="19437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 2">
            <a:extLst>
              <a:ext uri="{FF2B5EF4-FFF2-40B4-BE49-F238E27FC236}">
                <a16:creationId xmlns:a16="http://schemas.microsoft.com/office/drawing/2014/main" id="{BD53C849-9940-40A4-9C76-FECBC0A931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456" y="2511190"/>
            <a:ext cx="3620173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ru-RU" altLang="ru-RU" dirty="0">
                <a:latin typeface="Arial" panose="020B0604020202020204" pitchFamily="34" charset="0"/>
              </a:rPr>
              <a:t>О</a:t>
            </a: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птимизация  складской деятельности: учет товаров, автоматизация операций, прозрачность и оперативность работы.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017D505-C0FD-4843-BB0F-DD056045619C}"/>
              </a:ext>
            </a:extLst>
          </p:cNvPr>
          <p:cNvSpPr txBox="1"/>
          <p:nvPr/>
        </p:nvSpPr>
        <p:spPr>
          <a:xfrm>
            <a:off x="4991755" y="4845281"/>
            <a:ext cx="649539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Простота для пользователя– интуитивный интерфейс, как в мобильных приложениях. </a:t>
            </a:r>
          </a:p>
          <a:p>
            <a:r>
              <a:rPr lang="ru-RU" b="0" i="0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Сложные технологии под капотом– AI, компьютерное зрение, прогнозирование спроса. </a:t>
            </a:r>
            <a:endParaRPr lang="ru-RU" dirty="0"/>
          </a:p>
        </p:txBody>
      </p:sp>
      <p:sp>
        <p:nvSpPr>
          <p:cNvPr id="14" name="Shape 4">
            <a:extLst>
              <a:ext uri="{FF2B5EF4-FFF2-40B4-BE49-F238E27FC236}">
                <a16:creationId xmlns:a16="http://schemas.microsoft.com/office/drawing/2014/main" id="{9DBF0711-1004-4EEB-9111-3AF09B2B7C83}"/>
              </a:ext>
            </a:extLst>
          </p:cNvPr>
          <p:cNvSpPr/>
          <p:nvPr/>
        </p:nvSpPr>
        <p:spPr>
          <a:xfrm>
            <a:off x="4662612" y="2132376"/>
            <a:ext cx="3079311" cy="1967746"/>
          </a:xfrm>
          <a:prstGeom prst="roundRect">
            <a:avLst>
              <a:gd name="adj" fmla="val 1222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082640E-F98B-4502-A637-D72DDD3D4E3D}"/>
              </a:ext>
            </a:extLst>
          </p:cNvPr>
          <p:cNvSpPr txBox="1"/>
          <p:nvPr/>
        </p:nvSpPr>
        <p:spPr>
          <a:xfrm>
            <a:off x="5179164" y="2255609"/>
            <a:ext cx="22154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solidFill>
                  <a:srgbClr val="1E3063"/>
                </a:solidFill>
                <a:ea typeface="Instrument Sans Semi Bold" pitchFamily="34" charset="-122"/>
              </a:rPr>
              <a:t>Проблема складов</a:t>
            </a:r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CE760A2-82DF-44CB-A3E9-C1365DB8A1E3}"/>
              </a:ext>
            </a:extLst>
          </p:cNvPr>
          <p:cNvSpPr txBox="1"/>
          <p:nvPr/>
        </p:nvSpPr>
        <p:spPr>
          <a:xfrm>
            <a:off x="4797566" y="2587475"/>
            <a:ext cx="254371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Неэффективность использования пространства</a:t>
            </a:r>
            <a:r>
              <a:rPr lang="ru-RU" b="1" i="0" dirty="0">
                <a:solidFill>
                  <a:srgbClr val="494949"/>
                </a:solidFill>
                <a:effectLst/>
                <a:latin typeface="PT Sans" panose="020B0503020203020204" pitchFamily="34" charset="-52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Ограниченная автоматизация.</a:t>
            </a:r>
          </a:p>
        </p:txBody>
      </p:sp>
    </p:spTree>
    <p:extLst>
      <p:ext uri="{BB962C8B-B14F-4D97-AF65-F5344CB8AC3E}">
        <p14:creationId xmlns:p14="http://schemas.microsoft.com/office/powerpoint/2010/main" val="37870825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B7F5B6EB-F058-4D78-B023-762C9A1D37F0}"/>
              </a:ext>
            </a:extLst>
          </p:cNvPr>
          <p:cNvSpPr/>
          <p:nvPr/>
        </p:nvSpPr>
        <p:spPr>
          <a:xfrm>
            <a:off x="0" y="0"/>
            <a:ext cx="12220575" cy="6858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9B97D422-8B3F-4C4B-BCC8-865C1663205B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50000"/>
                    </a14:imgEffect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5114" r="6516"/>
          <a:stretch/>
        </p:blipFill>
        <p:spPr>
          <a:xfrm>
            <a:off x="5760076" y="626810"/>
            <a:ext cx="6025433" cy="602348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E87DF6-2F97-4B97-90CE-AFAFA835CB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72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118" y="626810"/>
            <a:ext cx="4935893" cy="602348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995A414-35E2-41CD-AE16-4505FA09D46D}"/>
              </a:ext>
            </a:extLst>
          </p:cNvPr>
          <p:cNvSpPr txBox="1"/>
          <p:nvPr/>
        </p:nvSpPr>
        <p:spPr>
          <a:xfrm>
            <a:off x="-116681" y="-148260"/>
            <a:ext cx="1250156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7959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3485E04-658B-4337-0ECD-C7DC999A3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578" b="6885"/>
          <a:stretch/>
        </p:blipFill>
        <p:spPr>
          <a:xfrm>
            <a:off x="1333500" y="1569705"/>
            <a:ext cx="9525000" cy="4675388"/>
          </a:xfrm>
          <a:prstGeom prst="rect">
            <a:avLst/>
          </a:prstGeom>
        </p:spPr>
      </p:pic>
      <p:sp>
        <p:nvSpPr>
          <p:cNvPr id="8" name="Text 0">
            <a:extLst>
              <a:ext uri="{FF2B5EF4-FFF2-40B4-BE49-F238E27FC236}">
                <a16:creationId xmlns:a16="http://schemas.microsoft.com/office/drawing/2014/main" id="{52EA520B-2584-2509-C400-2EE655E06340}"/>
              </a:ext>
            </a:extLst>
          </p:cNvPr>
          <p:cNvSpPr/>
          <p:nvPr/>
        </p:nvSpPr>
        <p:spPr>
          <a:xfrm>
            <a:off x="3208675" y="567159"/>
            <a:ext cx="577465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50"/>
              </a:lnSpc>
              <a:buNone/>
            </a:pPr>
            <a:r>
              <a:rPr lang="ru-RU" sz="54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Аналоги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E47C0B-8D36-4ACE-B461-9F7F9E5F9E63}"/>
              </a:ext>
            </a:extLst>
          </p:cNvPr>
          <p:cNvSpPr txBox="1"/>
          <p:nvPr/>
        </p:nvSpPr>
        <p:spPr>
          <a:xfrm>
            <a:off x="-142875" y="151242"/>
            <a:ext cx="158115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955970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0">
            <a:extLst>
              <a:ext uri="{FF2B5EF4-FFF2-40B4-BE49-F238E27FC236}">
                <a16:creationId xmlns:a16="http://schemas.microsoft.com/office/drawing/2014/main" id="{BE2B54C3-82D9-1BE3-211C-88FB115E729A}"/>
              </a:ext>
            </a:extLst>
          </p:cNvPr>
          <p:cNvSpPr/>
          <p:nvPr/>
        </p:nvSpPr>
        <p:spPr>
          <a:xfrm>
            <a:off x="164819" y="1201148"/>
            <a:ext cx="6653332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Гибкая структура склада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4EBE556F-3C10-C7D5-4F71-F0404FA0AED5}"/>
              </a:ext>
            </a:extLst>
          </p:cNvPr>
          <p:cNvSpPr/>
          <p:nvPr/>
        </p:nvSpPr>
        <p:spPr>
          <a:xfrm>
            <a:off x="356257" y="2591664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DFD88137-FDDD-FBCE-6BE4-49B546CD9956}"/>
              </a:ext>
            </a:extLst>
          </p:cNvPr>
          <p:cNvSpPr/>
          <p:nvPr/>
        </p:nvSpPr>
        <p:spPr>
          <a:xfrm>
            <a:off x="1055722" y="268980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Настройка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3EABB44-3DBB-FFD8-6321-FE0E3AD09F40}"/>
              </a:ext>
            </a:extLst>
          </p:cNvPr>
          <p:cNvSpPr/>
          <p:nvPr/>
        </p:nvSpPr>
        <p:spPr>
          <a:xfrm>
            <a:off x="336504" y="3239057"/>
            <a:ext cx="2899410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Описание рядов, полок и ячеек для моделирования склада.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72B6CA20-D825-A9C8-36B6-639B0737142E}"/>
              </a:ext>
            </a:extLst>
          </p:cNvPr>
          <p:cNvSpPr/>
          <p:nvPr/>
        </p:nvSpPr>
        <p:spPr>
          <a:xfrm>
            <a:off x="3352665" y="2501298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4F58D62F-A67C-93CE-21A3-9FBAA670D23E}"/>
              </a:ext>
            </a:extLst>
          </p:cNvPr>
          <p:cNvSpPr/>
          <p:nvPr/>
        </p:nvSpPr>
        <p:spPr>
          <a:xfrm>
            <a:off x="4109156" y="2345229"/>
            <a:ext cx="1665327" cy="6255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Категории</a:t>
            </a:r>
            <a:endParaRPr lang="ru-RU" sz="2000" dirty="0">
              <a:solidFill>
                <a:srgbClr val="1E3063"/>
              </a:solidFill>
              <a:latin typeface="Arial" panose="020B0604020202020204" pitchFamily="34" charset="0"/>
              <a:ea typeface="Instrument Sans Semi Bold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750"/>
              </a:lnSpc>
              <a:buNone/>
            </a:pPr>
            <a:r>
              <a:rPr lang="en-US" sz="20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 товаров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00097296-852B-1426-77FA-25ED994A3794}"/>
              </a:ext>
            </a:extLst>
          </p:cNvPr>
          <p:cNvSpPr/>
          <p:nvPr/>
        </p:nvSpPr>
        <p:spPr>
          <a:xfrm>
            <a:off x="3890957" y="3183299"/>
            <a:ext cx="2337696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Товары привязаны к конкретным ячейкам хранения.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0AB5DF0E-2D81-88A6-5718-D2677BCEF1B9}"/>
              </a:ext>
            </a:extLst>
          </p:cNvPr>
          <p:cNvSpPr/>
          <p:nvPr/>
        </p:nvSpPr>
        <p:spPr>
          <a:xfrm>
            <a:off x="705550" y="4819186"/>
            <a:ext cx="510302" cy="510302"/>
          </a:xfrm>
          <a:prstGeom prst="roundRect">
            <a:avLst>
              <a:gd name="adj" fmla="val 40005"/>
            </a:avLst>
          </a:prstGeom>
          <a:solidFill>
            <a:srgbClr val="CEE6FD"/>
          </a:solidFill>
          <a:ln/>
        </p:spPr>
        <p:txBody>
          <a:bodyPr/>
          <a:lstStyle/>
          <a:p>
            <a:endParaRPr lang="ru-RU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2A60270D-EF81-DAE4-1719-7885FDBB7AD9}"/>
              </a:ext>
            </a:extLst>
          </p:cNvPr>
          <p:cNvSpPr/>
          <p:nvPr/>
        </p:nvSpPr>
        <p:spPr>
          <a:xfrm>
            <a:off x="1422057" y="497515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Учет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C0E79AF1-EBB0-2143-2E55-ABE2A3240DB0}"/>
              </a:ext>
            </a:extLst>
          </p:cNvPr>
          <p:cNvSpPr/>
          <p:nvPr/>
        </p:nvSpPr>
        <p:spPr>
          <a:xfrm>
            <a:off x="456638" y="5542031"/>
            <a:ext cx="4033405" cy="811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Фильтрация, поиск и </a:t>
            </a:r>
            <a:r>
              <a:rPr lang="en-US" dirty="0" err="1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контроль</a:t>
            </a: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остатков</a:t>
            </a:r>
            <a:endParaRPr lang="ru-RU" dirty="0">
              <a:latin typeface="Arial" panose="020B0604020202020204" pitchFamily="34" charset="0"/>
              <a:ea typeface="Instrument Sans Medium" pitchFamily="34" charset="-122"/>
              <a:cs typeface="Arial" panose="020B0604020202020204" pitchFamily="34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в базе PostgreSQL.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79B67AA-C49C-4231-B215-7AB0E356DDDB}"/>
              </a:ext>
            </a:extLst>
          </p:cNvPr>
          <p:cNvSpPr txBox="1"/>
          <p:nvPr/>
        </p:nvSpPr>
        <p:spPr>
          <a:xfrm>
            <a:off x="-179177" y="1700"/>
            <a:ext cx="139502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20186D8-B737-4CAB-BE2F-23CBA7DECE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5193" y="226057"/>
            <a:ext cx="5033907" cy="3372215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873B74A-883A-4F89-B00B-C4934C8C9C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545" y="3754098"/>
            <a:ext cx="5598951" cy="267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1883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>
            <a:extLst>
              <a:ext uri="{FF2B5EF4-FFF2-40B4-BE49-F238E27FC236}">
                <a16:creationId xmlns:a16="http://schemas.microsoft.com/office/drawing/2014/main" id="{A3AF0B93-4758-1F22-B1C7-A2D1C3D70B7E}"/>
              </a:ext>
            </a:extLst>
          </p:cNvPr>
          <p:cNvSpPr/>
          <p:nvPr/>
        </p:nvSpPr>
        <p:spPr>
          <a:xfrm>
            <a:off x="2466768" y="385296"/>
            <a:ext cx="709286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ru-RU" sz="445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Упрощение поиска по складу</a:t>
            </a:r>
            <a:endParaRPr lang="en-US" sz="445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D384F1E-73FC-4938-B37B-46D99838AB3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494" t="30203" r="3045" b="21216"/>
          <a:stretch/>
        </p:blipFill>
        <p:spPr>
          <a:xfrm>
            <a:off x="6659417" y="1939636"/>
            <a:ext cx="5180750" cy="359036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7ACCF74-CBAD-4D79-80F0-B1733BC28D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" y="1671782"/>
            <a:ext cx="6724650" cy="44455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643D456-BEAD-4F13-950B-D02456E4F25D}"/>
              </a:ext>
            </a:extLst>
          </p:cNvPr>
          <p:cNvSpPr txBox="1"/>
          <p:nvPr/>
        </p:nvSpPr>
        <p:spPr>
          <a:xfrm>
            <a:off x="-230909" y="126872"/>
            <a:ext cx="199505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02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665F9A0-1CBE-46F0-83F2-D0E61EE02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9606" y="964154"/>
            <a:ext cx="4972269" cy="3354214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EE19D9-5A46-4ACD-8101-131126332BFB}"/>
              </a:ext>
            </a:extLst>
          </p:cNvPr>
          <p:cNvSpPr txBox="1"/>
          <p:nvPr/>
        </p:nvSpPr>
        <p:spPr>
          <a:xfrm>
            <a:off x="7332984" y="5103674"/>
            <a:ext cx="5043053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Голосовой поиск с ИИ. </a:t>
            </a:r>
          </a:p>
          <a:p>
            <a:pPr marL="285750" indent="-285750">
              <a:buFontTx/>
              <a:buChar char="-"/>
            </a:pP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"Где лежит </a:t>
            </a:r>
            <a:r>
              <a:rPr lang="en-US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Honor 11</a:t>
            </a:r>
            <a:r>
              <a:rPr lang="ru-RU" b="0" i="0" dirty="0"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на  256GB?" → система показывает ячейку на схеме склада. </a:t>
            </a:r>
          </a:p>
          <a:p>
            <a:pPr marL="285750" indent="-285750">
              <a:buFontTx/>
              <a:buChar char="-"/>
            </a:pPr>
            <a:endParaRPr lang="ru-RU" b="0" i="0" dirty="0">
              <a:solidFill>
                <a:srgbClr val="000000"/>
              </a:solidFill>
              <a:effectLst/>
              <a:latin typeface="Roboto" panose="02000000000000000000" pitchFamily="2" charset="0"/>
            </a:endParaRPr>
          </a:p>
          <a:p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423261F-A3A4-44CE-B797-4BF8625E44D5}"/>
              </a:ext>
            </a:extLst>
          </p:cNvPr>
          <p:cNvSpPr txBox="1"/>
          <p:nvPr/>
        </p:nvSpPr>
        <p:spPr>
          <a:xfrm>
            <a:off x="1232488" y="4318368"/>
            <a:ext cx="25178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A70F71C-944C-4565-8D78-BC49625A8D4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1508" y="3885712"/>
            <a:ext cx="5258165" cy="2742227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:a16="http://schemas.microsoft.com/office/drawing/2014/main" id="{F4873980-2254-4921-976D-FD5756561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901" y="404835"/>
            <a:ext cx="6609084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1800" b="0" i="0" u="none" strike="noStrike" kern="1200" cap="none" spc="0" normalizeH="0" baseline="0" noProof="0" dirty="0">
                <a:ln>
                  <a:noFill/>
                </a:ln>
                <a:solidFill>
                  <a:srgbClr val="181818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Внедрили систему компьютерного зрения с прогнозированием нехватки товаров.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Преимущества: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Повышение точности прогнозирования спроса.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Оптимизация затрат через снижение излишков и рисков списания.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Улучшение клиентского опыта за счет постоянного наличия товаров.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Автоматизация процессов отслеживания запасов.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ru-RU" altLang="ru-RU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Минимизация потерь благодаря быстрой реакции на изменения спроса.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540BEA-FC7B-44C2-BB38-72E1A4CBF575}"/>
              </a:ext>
            </a:extLst>
          </p:cNvPr>
          <p:cNvSpPr txBox="1"/>
          <p:nvPr/>
        </p:nvSpPr>
        <p:spPr>
          <a:xfrm>
            <a:off x="-494712" y="83528"/>
            <a:ext cx="17272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prstClr val="black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771311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0" descr="preencoded.png">
            <a:extLst>
              <a:ext uri="{FF2B5EF4-FFF2-40B4-BE49-F238E27FC236}">
                <a16:creationId xmlns:a16="http://schemas.microsoft.com/office/drawing/2014/main" id="{FA3CAD77-413C-692A-6F8A-F21AD4EB1C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2847372"/>
          </a:xfrm>
          <a:prstGeom prst="rect">
            <a:avLst/>
          </a:prstGeom>
        </p:spPr>
      </p:pic>
      <p:sp>
        <p:nvSpPr>
          <p:cNvPr id="5" name="Text 0">
            <a:extLst>
              <a:ext uri="{FF2B5EF4-FFF2-40B4-BE49-F238E27FC236}">
                <a16:creationId xmlns:a16="http://schemas.microsoft.com/office/drawing/2014/main" id="{450744C3-38EA-0CC8-1E84-596B2552F785}"/>
              </a:ext>
            </a:extLst>
          </p:cNvPr>
          <p:cNvSpPr/>
          <p:nvPr/>
        </p:nvSpPr>
        <p:spPr>
          <a:xfrm>
            <a:off x="320935" y="2880076"/>
            <a:ext cx="6652520" cy="7227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5400" dirty="0">
                <a:solidFill>
                  <a:srgbClr val="091C5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Технологии и архитектура</a:t>
            </a:r>
            <a:endParaRPr lang="en-US" sz="5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Image 1" descr="preencoded.png">
            <a:extLst>
              <a:ext uri="{FF2B5EF4-FFF2-40B4-BE49-F238E27FC236}">
                <a16:creationId xmlns:a16="http://schemas.microsoft.com/office/drawing/2014/main" id="{C4C06E93-673B-81B0-DAA0-C63692161F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451" y="3965368"/>
            <a:ext cx="3175930" cy="662757"/>
          </a:xfrm>
          <a:prstGeom prst="rect">
            <a:avLst/>
          </a:prstGeom>
        </p:spPr>
      </p:pic>
      <p:sp>
        <p:nvSpPr>
          <p:cNvPr id="7" name="Text 1">
            <a:extLst>
              <a:ext uri="{FF2B5EF4-FFF2-40B4-BE49-F238E27FC236}">
                <a16:creationId xmlns:a16="http://schemas.microsoft.com/office/drawing/2014/main" id="{AA2FEDEA-5B4E-8A52-A9A6-12C612AB37E7}"/>
              </a:ext>
            </a:extLst>
          </p:cNvPr>
          <p:cNvSpPr/>
          <p:nvPr/>
        </p:nvSpPr>
        <p:spPr>
          <a:xfrm>
            <a:off x="1349792" y="4846220"/>
            <a:ext cx="2071160" cy="4294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Backend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 2">
            <a:extLst>
              <a:ext uri="{FF2B5EF4-FFF2-40B4-BE49-F238E27FC236}">
                <a16:creationId xmlns:a16="http://schemas.microsoft.com/office/drawing/2014/main" id="{D133814A-13F0-AB83-6952-94D9C8206731}"/>
              </a:ext>
            </a:extLst>
          </p:cNvPr>
          <p:cNvSpPr/>
          <p:nvPr/>
        </p:nvSpPr>
        <p:spPr>
          <a:xfrm>
            <a:off x="802644" y="5405598"/>
            <a:ext cx="2844551" cy="833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Node.js и Express для серверной части.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 2" descr="preencoded.png">
            <a:extLst>
              <a:ext uri="{FF2B5EF4-FFF2-40B4-BE49-F238E27FC236}">
                <a16:creationId xmlns:a16="http://schemas.microsoft.com/office/drawing/2014/main" id="{1F6A57CA-83E3-170C-CD8D-9180A1E913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9978" y="3962338"/>
            <a:ext cx="3175930" cy="662757"/>
          </a:xfrm>
          <a:prstGeom prst="rect">
            <a:avLst/>
          </a:prstGeom>
        </p:spPr>
      </p:pic>
      <p:sp>
        <p:nvSpPr>
          <p:cNvPr id="10" name="Text 3">
            <a:extLst>
              <a:ext uri="{FF2B5EF4-FFF2-40B4-BE49-F238E27FC236}">
                <a16:creationId xmlns:a16="http://schemas.microsoft.com/office/drawing/2014/main" id="{244941E1-0E9C-155B-DE22-48779B98829A}"/>
              </a:ext>
            </a:extLst>
          </p:cNvPr>
          <p:cNvSpPr/>
          <p:nvPr/>
        </p:nvSpPr>
        <p:spPr>
          <a:xfrm>
            <a:off x="5249765" y="4909284"/>
            <a:ext cx="2071160" cy="30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Frontend</a:t>
            </a:r>
            <a:endParaRPr lang="en-US" sz="2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377F5D89-02BC-4082-379D-F02508BD0FCD}"/>
              </a:ext>
            </a:extLst>
          </p:cNvPr>
          <p:cNvSpPr/>
          <p:nvPr/>
        </p:nvSpPr>
        <p:spPr>
          <a:xfrm>
            <a:off x="4566792" y="5387801"/>
            <a:ext cx="2844551" cy="9391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React с базовыми UI-библиотеками.</a:t>
            </a:r>
            <a:endParaRPr lang="en-US" dirty="0"/>
          </a:p>
        </p:txBody>
      </p:sp>
      <p:pic>
        <p:nvPicPr>
          <p:cNvPr id="12" name="Image 3" descr="preencoded.png">
            <a:extLst>
              <a:ext uri="{FF2B5EF4-FFF2-40B4-BE49-F238E27FC236}">
                <a16:creationId xmlns:a16="http://schemas.microsoft.com/office/drawing/2014/main" id="{DC04855C-DA84-FE67-B9F7-88DCCEA066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46505" y="3962338"/>
            <a:ext cx="3175930" cy="662757"/>
          </a:xfrm>
          <a:prstGeom prst="rect">
            <a:avLst/>
          </a:prstGeom>
        </p:spPr>
      </p:pic>
      <p:sp>
        <p:nvSpPr>
          <p:cNvPr id="13" name="Text 5">
            <a:extLst>
              <a:ext uri="{FF2B5EF4-FFF2-40B4-BE49-F238E27FC236}">
                <a16:creationId xmlns:a16="http://schemas.microsoft.com/office/drawing/2014/main" id="{AC9988E4-3D8C-03AF-902E-E80B5426CB9C}"/>
              </a:ext>
            </a:extLst>
          </p:cNvPr>
          <p:cNvSpPr/>
          <p:nvPr/>
        </p:nvSpPr>
        <p:spPr>
          <a:xfrm>
            <a:off x="9260575" y="4984587"/>
            <a:ext cx="2071160" cy="3033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Arial" panose="020B0604020202020204" pitchFamily="34" charset="0"/>
                <a:ea typeface="Instrument Sans Semi Bold" pitchFamily="34" charset="-122"/>
                <a:cs typeface="Arial" panose="020B0604020202020204" pitchFamily="34" charset="0"/>
              </a:rPr>
              <a:t>API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DD27125E-9CD0-F1D2-19D1-EE925092FB3B}"/>
              </a:ext>
            </a:extLst>
          </p:cNvPr>
          <p:cNvSpPr/>
          <p:nvPr/>
        </p:nvSpPr>
        <p:spPr>
          <a:xfrm>
            <a:off x="8273319" y="5490773"/>
            <a:ext cx="3532859" cy="6627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REST API </a:t>
            </a:r>
            <a:r>
              <a:rPr lang="en-US" dirty="0" err="1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для</a:t>
            </a:r>
            <a:r>
              <a:rPr lang="ru-RU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</a:t>
            </a:r>
            <a:r>
              <a:rPr lang="en-US" dirty="0" err="1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взаимодействия</a:t>
            </a:r>
            <a:endParaRPr lang="ru-RU" dirty="0">
              <a:latin typeface="Arial" panose="020B0604020202020204" pitchFamily="34" charset="0"/>
              <a:ea typeface="Instrument Sans Medium" pitchFamily="34" charset="-122"/>
              <a:cs typeface="Arial" panose="020B0604020202020204" pitchFamily="34" charset="0"/>
            </a:endParaRPr>
          </a:p>
          <a:p>
            <a:pPr marL="0" indent="0" algn="ctr">
              <a:lnSpc>
                <a:spcPts val="2850"/>
              </a:lnSpc>
              <a:buNone/>
            </a:pPr>
            <a:r>
              <a:rPr lang="en-US" dirty="0">
                <a:latin typeface="Arial" panose="020B0604020202020204" pitchFamily="34" charset="0"/>
                <a:ea typeface="Instrument Sans Medium" pitchFamily="34" charset="-122"/>
                <a:cs typeface="Arial" panose="020B0604020202020204" pitchFamily="34" charset="0"/>
              </a:rPr>
              <a:t> и интеграций.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660EBF-6D7E-4DAB-8043-FF1FEFD7A3BD}"/>
              </a:ext>
            </a:extLst>
          </p:cNvPr>
          <p:cNvSpPr txBox="1"/>
          <p:nvPr/>
        </p:nvSpPr>
        <p:spPr>
          <a:xfrm>
            <a:off x="-391070" y="-32704"/>
            <a:ext cx="14240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54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endParaRPr kumimoji="0" lang="ru-RU" sz="5400" b="0" i="0" u="none" strike="noStrike" kern="1200" cap="none" spc="0" normalizeH="0" baseline="0" noProof="0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967237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4">
            <a:extLst>
              <a:ext uri="{FF2B5EF4-FFF2-40B4-BE49-F238E27FC236}">
                <a16:creationId xmlns:a16="http://schemas.microsoft.com/office/drawing/2014/main" id="{07D2D967-0C9E-4EA3-A664-F4DEA8DC44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599" y="3276599"/>
            <a:ext cx="3071091" cy="3071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4" name="AutoShape 6">
            <a:extLst>
              <a:ext uri="{FF2B5EF4-FFF2-40B4-BE49-F238E27FC236}">
                <a16:creationId xmlns:a16="http://schemas.microsoft.com/office/drawing/2014/main" id="{8C015413-D27D-4506-BBD6-BEB684B731A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07C9FC6-4336-4398-B2EA-D64D67FCE9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70390"/>
            <a:ext cx="6594477" cy="326909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E75D850-0841-4C6A-927E-A725189AE8B8}"/>
              </a:ext>
            </a:extLst>
          </p:cNvPr>
          <p:cNvSpPr txBox="1"/>
          <p:nvPr/>
        </p:nvSpPr>
        <p:spPr>
          <a:xfrm>
            <a:off x="-433208" y="193163"/>
            <a:ext cx="1625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10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DC1269A-C9EA-450B-91AF-93131E5C60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82924" y="1510145"/>
            <a:ext cx="5056469" cy="4837545"/>
          </a:xfrm>
          <a:prstGeom prst="rect">
            <a:avLst/>
          </a:prstGeom>
        </p:spPr>
      </p:pic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id="{885396A6-109B-4132-B141-9E34C7683A26}"/>
              </a:ext>
            </a:extLst>
          </p:cNvPr>
          <p:cNvSpPr/>
          <p:nvPr/>
        </p:nvSpPr>
        <p:spPr>
          <a:xfrm>
            <a:off x="1266688" y="193163"/>
            <a:ext cx="1032366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5400" b="0" cap="none" spc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Архитектура базы данных проекта</a:t>
            </a:r>
          </a:p>
        </p:txBody>
      </p:sp>
    </p:spTree>
    <p:extLst>
      <p:ext uri="{BB962C8B-B14F-4D97-AF65-F5344CB8AC3E}">
        <p14:creationId xmlns:p14="http://schemas.microsoft.com/office/powerpoint/2010/main" val="63017425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5EB2B7-FDDD-4286-A897-8FE91A3980FE}"/>
              </a:ext>
            </a:extLst>
          </p:cNvPr>
          <p:cNvSpPr txBox="1"/>
          <p:nvPr/>
        </p:nvSpPr>
        <p:spPr>
          <a:xfrm>
            <a:off x="-314037" y="0"/>
            <a:ext cx="157018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5400" b="0" i="0" u="none" strike="noStrike" kern="1200" cap="none" spc="0" normalizeH="0" baseline="0" noProof="0" dirty="0">
                <a:ln w="0"/>
                <a:solidFill>
                  <a:prstClr val="black"/>
                </a:solidFill>
                <a:effectLst>
                  <a:outerShdw blurRad="38100" dist="19050" dir="2700000" algn="t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11</a:t>
            </a:r>
          </a:p>
        </p:txBody>
      </p:sp>
      <p:pic>
        <p:nvPicPr>
          <p:cNvPr id="2" name="2025-05-23 19-34-07">
            <a:hlinkClick r:id="" action="ppaction://media"/>
            <a:extLst>
              <a:ext uri="{FF2B5EF4-FFF2-40B4-BE49-F238E27FC236}">
                <a16:creationId xmlns:a16="http://schemas.microsoft.com/office/drawing/2014/main" id="{AF429780-250E-442A-AFC3-9C7E4AA94579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42686" y="238126"/>
            <a:ext cx="11058814" cy="622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28170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4217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70748B-EE0A-4D85-832C-5E9E18EA0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3FF2CD74-BB3B-492B-842E-840C8BD3F022}"/>
              </a:ext>
            </a:extLst>
          </p:cNvPr>
          <p:cNvSpPr/>
          <p:nvPr/>
        </p:nvSpPr>
        <p:spPr>
          <a:xfrm>
            <a:off x="1720155" y="2588644"/>
            <a:ext cx="9305881" cy="110799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ru-RU" sz="66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  <a:reflection blurRad="6350" stA="60000" endA="900" endPos="58000" dir="5400000" sy="-100000" algn="bl" rotWithShape="0"/>
                </a:effectLst>
                <a:latin typeface="Arial" panose="020B0604020202020204" pitchFamily="34" charset="0"/>
                <a:cs typeface="Arial" panose="020B0604020202020204" pitchFamily="34" charset="0"/>
              </a:rPr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3459781171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</TotalTime>
  <Words>364</Words>
  <Application>Microsoft Office PowerPoint</Application>
  <PresentationFormat>Широкоэкранный</PresentationFormat>
  <Paragraphs>86</Paragraphs>
  <Slides>12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20" baseType="lpstr">
      <vt:lpstr>Arial</vt:lpstr>
      <vt:lpstr>Calibri</vt:lpstr>
      <vt:lpstr>Calibri Light</vt:lpstr>
      <vt:lpstr>Instrument Sans Medium</vt:lpstr>
      <vt:lpstr>Instrument Sans Semi Bold</vt:lpstr>
      <vt:lpstr>PT Sans</vt:lpstr>
      <vt:lpstr>Roboto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Валерия Большакова</dc:creator>
  <cp:lastModifiedBy>Sailla Appel</cp:lastModifiedBy>
  <cp:revision>39</cp:revision>
  <dcterms:created xsi:type="dcterms:W3CDTF">2025-05-21T15:52:34Z</dcterms:created>
  <dcterms:modified xsi:type="dcterms:W3CDTF">2025-05-23T17:18:20Z</dcterms:modified>
</cp:coreProperties>
</file>